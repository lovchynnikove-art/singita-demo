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" name="Google Shape;7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hyperlink" Target="https://businessatlas.spac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"/>
            <a:ext cx="1645920" cy="164592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457200" y="2103120"/>
            <a:ext cx="5486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PROPOSAL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278892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Guest Feedback &amp; Profile Intelligence System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57200" y="3337560"/>
            <a:ext cx="36576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57200" y="347472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Client: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Singita</a:t>
            </a:r>
            <a:r>
              <a:rPr b="0" i="0" lang="en-US" sz="12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   Date: </a:t>
            </a: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June 24,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00"/>
              <a:buFont typeface="Arial"/>
              <a:buNone/>
            </a:pPr>
            <a:r>
              <a:rPr b="0" i="1" lang="en-US" sz="13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System. Control. Results.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828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CLIENT SITUATION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Guest feedback is rich, but most of it never reaches a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57200" y="1280160"/>
            <a:ext cx="32004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274320" y="1463040"/>
            <a:ext cx="2743200" cy="256032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57200" y="16002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⚠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457200" y="2103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Conversational Feedback Gets Lost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57200" y="25146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Most real feedback happens in live conversations with staff or over WhatsApp and email. Singita never pushes guests for reviews — so this is the majority of guest sentiment, and almost none of it is captured.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27832" y="1463040"/>
            <a:ext cx="2743200" cy="256032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3410712" y="16002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⏱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3410712" y="2103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Disconnected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3410712" y="25146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Booking (PMS), guest reviews (Loop) and guest profiles don’t talk to each other. Staff can’t see at a glance that a returning guest likes strawberries or had a complaint last visit.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181344" y="1463040"/>
            <a:ext cx="2743200" cy="256032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6364224" y="1600200"/>
            <a:ext cx="548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📉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364224" y="210312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Manual, Fragmented Logging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6364224" y="2514600"/>
            <a:ext cx="23774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Handwritten guest cards are retyped into Loop, then exported into giant Excel files. Loop only returns word clouds — no real trends, no recommendations, no way to ask a question and get an answer.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828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private guest feedback &amp; profile system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1280160"/>
            <a:ext cx="32004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57200" y="1463040"/>
            <a:ext cx="411480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What’s included: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 Voice &amp; text note capture via WhatsApp/Telegram</a:t>
            </a:r>
            <a:b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 AI-structured guest profile (preferences, history, notes)</a:t>
            </a:r>
            <a:b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 Trend analytics across lodges and regions</a:t>
            </a:r>
            <a:b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• Private, closed infrastructure — not public AI tools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29200" y="1463040"/>
            <a:ext cx="3657600" cy="2560320"/>
          </a:xfrm>
          <a:prstGeom prst="rect">
            <a:avLst/>
          </a:prstGeom>
          <a:solidFill>
            <a:srgbClr val="4C1D95">
              <a:alpha val="60000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5212080" y="16459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212080" y="2103120"/>
            <a:ext cx="3200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No conversation or note gets lost again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One guest view across all lodges and visits</a:t>
            </a:r>
            <a:b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✓ Ask a question, get a real answer — not a word cloud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76" name="Google Shape;7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828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HOW IT WORKS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a guest conversation to actionable insight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457200" y="1280160"/>
            <a:ext cx="32004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188720" y="146304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Capture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188720" y="17830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Staff log a note by voice or text in WhatsApp/Telegram — right after a guest mentions a preference or complaint.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132320" y="1554480"/>
            <a:ext cx="1371600" cy="320040"/>
          </a:xfrm>
          <a:prstGeom prst="roundRect">
            <a:avLst>
              <a:gd fmla="val 14286" name="adj"/>
            </a:avLst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132320" y="1554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Voice or text, in seconds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04088" y="2011680"/>
            <a:ext cx="54864" cy="548640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25603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1188720" y="256032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188720" y="288036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AI structures the note into the guest profile and tags it — preference, complaint, or request — no manual retyping.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132320" y="2651760"/>
            <a:ext cx="1371600" cy="320040"/>
          </a:xfrm>
          <a:prstGeom prst="roundRect">
            <a:avLst>
              <a:gd fmla="val 14286" name="adj"/>
            </a:avLst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7132320" y="2651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One profile, every visit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04088" y="3108960"/>
            <a:ext cx="54864" cy="548640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3657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188720" y="365760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Ask &amp; Analyze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188720" y="39776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Managers ask the AI agent directly: “What issues keep coming up at Lebombo?” or “Brief me on this guest’s last 5 visits.”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132320" y="3749040"/>
            <a:ext cx="1371600" cy="320040"/>
          </a:xfrm>
          <a:prstGeom prst="roundRect">
            <a:avLst>
              <a:gd fmla="val 14286" name="adj"/>
            </a:avLst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132320" y="3749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Insight, not word clouds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109" name="Google Shape;1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828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IMPLEMENTATION PACKAGES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Three ways to start, scaled to your timeline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457200" y="1280160"/>
            <a:ext cx="32004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457200" y="1463040"/>
            <a:ext cx="131064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457200" y="1463040"/>
            <a:ext cx="131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1950720" y="1463040"/>
            <a:ext cx="381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$5,000 setup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1950720" y="1783080"/>
            <a:ext cx="426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No-code MVP (Voiceflow/Botpress + n8n): guest profile, text notes, AI summary.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7132320" y="1554480"/>
            <a:ext cx="1371600" cy="320040"/>
          </a:xfrm>
          <a:prstGeom prst="roundRect">
            <a:avLst>
              <a:gd fmla="val 14286" name="adj"/>
            </a:avLst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7132320" y="1554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2–3 weeks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04088" y="2011680"/>
            <a:ext cx="54864" cy="548640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2560320"/>
            <a:ext cx="131064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457200" y="2560320"/>
            <a:ext cx="131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HYBRID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1950720" y="2560320"/>
            <a:ext cx="381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$11,000 setup — Recommended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950720" y="2880360"/>
            <a:ext cx="426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Self-hosted (LangGraph + Supabase): + voice notes, AI chat agent, dashboard.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7132320" y="2651760"/>
            <a:ext cx="1371600" cy="320040"/>
          </a:xfrm>
          <a:prstGeom prst="roundRect">
            <a:avLst>
              <a:gd fmla="val 14286" name="adj"/>
            </a:avLst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7132320" y="2651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4–6 weeks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704088" y="3108960"/>
            <a:ext cx="54864" cy="548640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7200" y="3657600"/>
            <a:ext cx="131064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57200" y="3657600"/>
            <a:ext cx="131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ENTERPRISE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950720" y="3657600"/>
            <a:ext cx="381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$18,000 setup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1950720" y="3977640"/>
            <a:ext cx="426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Full custom build (Python/FastAPI): + AI-drafted replies, integration-ready.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7132320" y="3749040"/>
            <a:ext cx="1371600" cy="320040"/>
          </a:xfrm>
          <a:prstGeom prst="roundRect">
            <a:avLst>
              <a:gd fmla="val 14286" name="adj"/>
            </a:avLst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7132320" y="3749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8–10 weeks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142" name="Google Shape;14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828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SUPPORT PACKAGES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Ongoing care, matched to your chosen package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57200" y="1280160"/>
            <a:ext cx="32004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57200" y="1463040"/>
            <a:ext cx="131064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57200" y="1463040"/>
            <a:ext cx="131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BASIC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1950720" y="1463040"/>
            <a:ext cx="381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$400 /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950720" y="1783080"/>
            <a:ext cx="426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Bug fixes &amp; uptime monitoring. 48h response time.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132320" y="1554480"/>
            <a:ext cx="1371600" cy="320040"/>
          </a:xfrm>
          <a:prstGeom prst="roundRect">
            <a:avLst>
              <a:gd fmla="val 14286" name="adj"/>
            </a:avLst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132320" y="1554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For START 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04088" y="2011680"/>
            <a:ext cx="54864" cy="548640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57200" y="2560320"/>
            <a:ext cx="131064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457200" y="2560320"/>
            <a:ext cx="131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STANDARD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950720" y="2560320"/>
            <a:ext cx="381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$800 /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8"/>
          <p:cNvSpPr/>
          <p:nvPr/>
        </p:nvSpPr>
        <p:spPr>
          <a:xfrm>
            <a:off x="1950720" y="2880360"/>
            <a:ext cx="426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Fixes + minor tweaks. 24h response, monthly review.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7132320" y="2651760"/>
            <a:ext cx="1371600" cy="320040"/>
          </a:xfrm>
          <a:prstGeom prst="roundRect">
            <a:avLst>
              <a:gd fmla="val 14286" name="adj"/>
            </a:avLst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8"/>
          <p:cNvSpPr/>
          <p:nvPr/>
        </p:nvSpPr>
        <p:spPr>
          <a:xfrm>
            <a:off x="7132320" y="26517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For HYBRID 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704088" y="3108960"/>
            <a:ext cx="54864" cy="548640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457200" y="3657600"/>
            <a:ext cx="131064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457200" y="3657600"/>
            <a:ext cx="131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PRIORITY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1950720" y="3657600"/>
            <a:ext cx="3810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$1,500 / month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1950720" y="3977640"/>
            <a:ext cx="426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Fixes + new features. Same-day response, quarterly strategy call.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7132320" y="3749040"/>
            <a:ext cx="1371600" cy="320040"/>
          </a:xfrm>
          <a:prstGeom prst="roundRect">
            <a:avLst>
              <a:gd fmla="val 14286" name="adj"/>
            </a:avLst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7132320" y="3749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For ENTERPRISE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176" name="Google Shape;1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828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9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PAYMENT SCHEDULE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Same structure for every package: 50% / 30% / 20%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457200" y="1234440"/>
            <a:ext cx="32004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640080" y="1371600"/>
            <a:ext cx="365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/>
          <p:nvPr/>
        </p:nvSpPr>
        <p:spPr>
          <a:xfrm>
            <a:off x="4480560" y="13716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START • HYBRID • ENTERPRISE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solidFill>
            <a:srgbClr val="0A0A0F"/>
          </a:solidFill>
          <a:ln cap="flat" cmpd="sng" w="9525">
            <a:solidFill>
              <a:srgbClr val="2A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40080" y="1783080"/>
            <a:ext cx="365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Deposit (50%) — before work starts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4203780" y="1783080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$2,500</a:t>
            </a:r>
            <a:r>
              <a:rPr b="1" lang="en-US" sz="1200">
                <a:solidFill>
                  <a:srgbClr val="9D5CF5"/>
                </a:solidFill>
              </a:rPr>
              <a:t> </a:t>
            </a:r>
            <a:r>
              <a:rPr b="1" i="0" lang="en-US" sz="1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•$5,50</a:t>
            </a:r>
            <a:r>
              <a:rPr b="1" i="0" lang="en-US" sz="1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i="0" lang="en-US" sz="1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i="0" lang="en-US" sz="1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$9,000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57200" y="2194560"/>
            <a:ext cx="8229600" cy="411480"/>
          </a:xfrm>
          <a:prstGeom prst="rect">
            <a:avLst/>
          </a:prstGeom>
          <a:solidFill>
            <a:srgbClr val="1F1F2E"/>
          </a:solidFill>
          <a:ln cap="flat" cmpd="sng" w="9525">
            <a:solidFill>
              <a:srgbClr val="2A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40080" y="2194560"/>
            <a:ext cx="365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Implementation (30%)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4261442" y="2194560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$1,500 • $3,300 • $5,400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solidFill>
            <a:srgbClr val="0A0A0F"/>
          </a:solidFill>
          <a:ln cap="flat" cmpd="sng" w="9525">
            <a:solidFill>
              <a:srgbClr val="2A2A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40080" y="2606040"/>
            <a:ext cx="3658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Launch (20%) — on delivery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249910" y="2606040"/>
            <a:ext cx="4023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$1,000 • $2,200 • $3,600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640080" y="3017520"/>
            <a:ext cx="3658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480560" y="3017520"/>
            <a:ext cx="4023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$5,000 • $11,000 • $18,000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Setup fee only. Monthly support retainer billed separately, starting after launch.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205" name="Google Shape;2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828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SECURITY &amp; ARCHITECTURE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Built for guests who value their privacy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457200" y="1280160"/>
            <a:ext cx="32004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1097280" y="150876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Private, closed infrastructure — not a public AI tool. Guest data never trains a public model and isn’t visible outside Singita’s own system.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1097280" y="242316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Built with POPIA and GDPR requirements in mind from day one — appropriate for guest contact details, locations, and preferences.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1097280" y="333756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Human-to-guest, always. The system never sends guests a message — it only helps your team respond, personally, faster.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1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228" name="Google Shape;22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828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WHY THIS PAYS OFF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price is an investment, not a cost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57200" y="1280160"/>
            <a:ext cx="32004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1097280" y="150876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At $2,200–$3,800+ per guest, per night, knowing what a returning guest wants before they ask is worth more than the system costs.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11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1097280" y="242316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The alternative is more staff hours retyping cards into Loop and Excel — this replaces that work instead of adding to 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1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1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1097280" y="3337560"/>
            <a:ext cx="7498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Built to plug into whatever PMS/CRM Singita chooses next — no rework needed when that migration happens.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ogo.jpg" id="254" name="Google Shape;2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731520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2"/>
          <p:cNvSpPr/>
          <p:nvPr/>
        </p:nvSpPr>
        <p:spPr>
          <a:xfrm>
            <a:off x="365760" y="3108960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Atlas Automation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365760" y="35204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Architect of digital business ecosystems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3200400" y="457200"/>
            <a:ext cx="45720" cy="42062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3474720" y="182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ABOUT 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3474720" y="64008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 build systems, not just configure 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3474720" y="1371600"/>
            <a:ext cx="5303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is a B2B agency for AI automation and CRM integration. We free business owners from operational routine through end-to-end automation.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3474720" y="2377440"/>
            <a:ext cx="1554480" cy="100584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3474720" y="24688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50+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3474720" y="288036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Projects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5303520" y="2377440"/>
            <a:ext cx="1554480" cy="100584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5303520" y="24688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3+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5303520" y="288036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Years of Experience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/>
          <p:nvPr/>
        </p:nvSpPr>
        <p:spPr>
          <a:xfrm>
            <a:off x="7132320" y="2377440"/>
            <a:ext cx="1554480" cy="100584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2"/>
          <p:cNvSpPr/>
          <p:nvPr/>
        </p:nvSpPr>
        <p:spPr>
          <a:xfrm>
            <a:off x="7132320" y="246888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UA/EU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2"/>
          <p:cNvSpPr/>
          <p:nvPr/>
        </p:nvSpPr>
        <p:spPr>
          <a:xfrm>
            <a:off x="7132320" y="288036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Markets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2"/>
          <p:cNvSpPr/>
          <p:nvPr/>
        </p:nvSpPr>
        <p:spPr>
          <a:xfrm>
            <a:off x="3474720" y="356616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Stack: n8n · Make · Dynamics 365 · Creatio · Webflow · Claude AI · OpenAI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278" name="Google Shape;27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828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WHAT WE NEED FROM YOU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Just one decision to get started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457200" y="1280160"/>
            <a:ext cx="32004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1188720" y="1536192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Choose your package — START, HYBRID, or ENTERPRISE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/>
          <p:nvPr/>
        </p:nvSpPr>
        <p:spPr>
          <a:xfrm>
            <a:off x="1188720" y="2313432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Confirm your choice in writing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1188720" y="3090672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We’ll send over the access &amp; data checklist next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57200" y="379476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1188720" y="3867912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Deposit received — we start the same day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304" name="Google Shape;3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0" y="18288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1F1F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365760" y="4901184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Business Atlas Automation  •  businessatlas.space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457200" y="1828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TERMS OF COOPERATION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Transparent. No hidden terms.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457200" y="1280160"/>
            <a:ext cx="32004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457200" y="1463040"/>
            <a:ext cx="4023360" cy="118872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640080" y="1600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💳  Payment in 3 Stages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640080" y="1965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50% deposit, 30% at implementation, 20% on launch. Protects both sides.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457200" y="2834640"/>
            <a:ext cx="4023360" cy="118872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🛡  14-Day Warranty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640080" y="33375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If something doesn’t work after delivery, we fix it free of charge.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4754880" y="1463040"/>
            <a:ext cx="4023360" cy="118872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4937760" y="16002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📋  Documentation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4937760" y="19659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Every project ships with a description of what was set up and how.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4754880" y="2834640"/>
            <a:ext cx="4023360" cy="1188720"/>
          </a:xfrm>
          <a:prstGeom prst="rect">
            <a:avLst/>
          </a:prstGeom>
          <a:solidFill>
            <a:srgbClr val="1F1F2E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4937760" y="2971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⏱  Deadlines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4937760" y="33375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Timelines are fixed at the start, and we stick to them.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A0F"/>
          </a:solidFill>
          <a:ln cap="flat" cmpd="sng" w="12700">
            <a:solidFill>
              <a:srgbClr val="0A0A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4C1D95"/>
          </a:solidFill>
          <a:ln cap="flat" cmpd="sng" w="12700">
            <a:solidFill>
              <a:srgbClr val="4C1D9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9D5CF5"/>
          </a:solidFill>
          <a:ln cap="flat" cmpd="sng" w="12700">
            <a:solidFill>
              <a:srgbClr val="9D5C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.jpg" id="331" name="Google Shape;3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5720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5"/>
          <p:cNvSpPr/>
          <p:nvPr/>
        </p:nvSpPr>
        <p:spPr>
          <a:xfrm>
            <a:off x="365760" y="246888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Business Atlas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Automation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/>
          <p:nvPr/>
        </p:nvSpPr>
        <p:spPr>
          <a:xfrm>
            <a:off x="365760" y="33375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D5CF5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9D5CF5"/>
                </a:solidFill>
                <a:latin typeface="Arial"/>
                <a:ea typeface="Arial"/>
                <a:cs typeface="Arial"/>
                <a:sym typeface="Arial"/>
              </a:rPr>
              <a:t>System. Control. Results.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/>
          <p:nvPr/>
        </p:nvSpPr>
        <p:spPr>
          <a:xfrm>
            <a:off x="4572000" y="91440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Ready to Start?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4572000" y="16459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We respond within 4 business hours.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4572000" y="2103120"/>
            <a:ext cx="2743200" cy="3657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4572000" y="2880360"/>
            <a:ext cx="4206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🌐  </a:t>
            </a:r>
            <a:r>
              <a:rPr lang="en-US" sz="1300" u="sng">
                <a:solidFill>
                  <a:schemeClr val="hlink"/>
                </a:solidFill>
                <a:hlinkClick r:id="rId4"/>
              </a:rPr>
              <a:t>https://businessatlas.space/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4572000" y="438912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9CA3AF"/>
                </a:solidFill>
                <a:latin typeface="Arial"/>
                <a:ea typeface="Arial"/>
                <a:cs typeface="Arial"/>
                <a:sym typeface="Arial"/>
              </a:rPr>
              <a:t>50+ projects  •  UA / EU  •  n8n · CRM ·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